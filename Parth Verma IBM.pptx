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8"/>
  </p:notesMasterIdLst>
  <p:sldIdLst>
    <p:sldId id="256" r:id="rId5"/>
    <p:sldId id="2146847054" r:id="rId6"/>
    <p:sldId id="262" r:id="rId7"/>
    <p:sldId id="263" r:id="rId8"/>
    <p:sldId id="265" r:id="rId9"/>
    <p:sldId id="266" r:id="rId10"/>
    <p:sldId id="267" r:id="rId11"/>
    <p:sldId id="268" r:id="rId12"/>
    <p:sldId id="2146847055" r:id="rId13"/>
    <p:sldId id="269" r:id="rId14"/>
    <p:sldId id="2146847057" r:id="rId15"/>
    <p:sldId id="2146847056" r:id="rId16"/>
    <p:sldId id="25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9" autoAdjust="0"/>
    <p:restoredTop sz="94660"/>
  </p:normalViewPr>
  <p:slideViewPr>
    <p:cSldViewPr snapToGrid="0">
      <p:cViewPr varScale="1">
        <p:scale>
          <a:sx n="78" d="100"/>
          <a:sy n="78" d="100"/>
        </p:scale>
        <p:origin x="112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2/7/2026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2/7/2026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2/7/2026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2/7/2026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2/7/2026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2/7/2026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2/7/2026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2/7/2026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a:solidFill>
                  <a:schemeClr val="accent1"/>
                </a:solidFill>
                <a:latin typeface="Arial"/>
                <a:cs typeface="Arial"/>
              </a:rPr>
              <a:t>Project Title</a:t>
            </a:r>
            <a:endParaRPr lang="en-US" b="1" dirty="0">
              <a:solidFill>
                <a:schemeClr val="accent1"/>
              </a:solidFill>
              <a:latin typeface="Arial"/>
              <a:cs typeface="Arial"/>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117529" y="4586365"/>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 </a:t>
            </a:r>
            <a:r>
              <a:rPr lang="en-US" sz="2000" b="1" dirty="0">
                <a:solidFill>
                  <a:schemeClr val="accent1">
                    <a:lumMod val="75000"/>
                  </a:schemeClr>
                </a:solidFill>
                <a:latin typeface="Arial"/>
                <a:cs typeface="Arial"/>
              </a:rPr>
              <a:t>PARTH VERMA </a:t>
            </a:r>
          </a:p>
          <a:p>
            <a:r>
              <a:rPr lang="en-US" sz="2000" b="1" dirty="0">
                <a:solidFill>
                  <a:schemeClr val="accent1">
                    <a:lumMod val="75000"/>
                  </a:schemeClr>
                </a:solidFill>
                <a:latin typeface="Arial"/>
                <a:cs typeface="Arial"/>
              </a:rPr>
              <a:t>Faculty Name: Aman Shrivastava</a:t>
            </a:r>
          </a:p>
          <a:p>
            <a:r>
              <a:rPr lang="en-US" sz="2000" b="1" dirty="0">
                <a:solidFill>
                  <a:schemeClr val="accent1">
                    <a:lumMod val="75000"/>
                  </a:schemeClr>
                </a:solidFill>
                <a:latin typeface="Arial"/>
                <a:cs typeface="Arial"/>
              </a:rPr>
              <a:t>College Name &amp; Department: Haridwar University(</a:t>
            </a:r>
            <a:r>
              <a:rPr lang="en-US" sz="2000" b="1" dirty="0" err="1">
                <a:solidFill>
                  <a:schemeClr val="accent1">
                    <a:lumMod val="75000"/>
                  </a:schemeClr>
                </a:solidFill>
                <a:latin typeface="Arial"/>
                <a:cs typeface="Arial"/>
              </a:rPr>
              <a:t>B.Tech</a:t>
            </a:r>
            <a:r>
              <a:rPr lang="en-US" sz="2000" b="1" dirty="0">
                <a:solidFill>
                  <a:schemeClr val="accent1">
                    <a:lumMod val="75000"/>
                  </a:schemeClr>
                </a:solidFill>
                <a:latin typeface="Arial"/>
                <a:cs typeface="Arial"/>
              </a:rPr>
              <a:t> CSE(AI &amp; ML))</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r>
              <a:rPr lang="en-US" sz="2000" dirty="0">
                <a:latin typeface="Arial"/>
                <a:ea typeface="+mn-lt"/>
                <a:cs typeface="+mn-lt"/>
              </a:rPr>
              <a:t> </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(Output Image)</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0" indent="0">
              <a:buNone/>
            </a:pPr>
            <a:r>
              <a:rPr lang="en-US" sz="3200" dirty="0"/>
              <a:t>Despite the expansion of the Tele-Law initiative across states and districts, there is limited understanding of demographic utilization patterns and regional disparities in legal aid access. The challenge is to analyze Tele-Law case registration data to uncover gender-wise, caste-wise, and geographic disparities in service utilization across CSCs. Uneven representation among marginalized groups (SC, ST, OBC) and low outreach in certain districts raise concerns about equity and effectiveness. Moreover, the varying number of CSCs per region complicates direct comparisons. This problem demands a data-driven approach to evaluate inclusivity and optimize service delivery. </a:t>
            </a:r>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0" y="1097280"/>
            <a:ext cx="12191999" cy="5760720"/>
          </a:xfrm>
        </p:spPr>
        <p:txBody>
          <a:bodyPr vert="horz" lIns="91440" tIns="45720" rIns="91440" bIns="45720" rtlCol="0" anchor="ctr">
            <a:noAutofit/>
          </a:bodyPr>
          <a:lstStyle/>
          <a:p>
            <a:r>
              <a:rPr lang="en-US" sz="2400" dirty="0"/>
              <a:t>The proposed system analyzes Tele-Law case registration data to identify demographic and regional disparities in access to legal aid services. Using data analytics, the system evaluates gender-wise, caste-wise (SC, ST, OBC), and district-wise utilization patterns to assess inclusivity.</a:t>
            </a:r>
          </a:p>
          <a:p>
            <a:r>
              <a:rPr lang="en-US" sz="2400" dirty="0"/>
              <a:t>District-level data from FY 2021–22 to 2024–25 is collected and preprocessed to handle missing values and inconsistencies. Case registrations are normalized based on the number of Common Service </a:t>
            </a:r>
            <a:r>
              <a:rPr lang="en-US" sz="2400" dirty="0" err="1"/>
              <a:t>Centres</a:t>
            </a:r>
            <a:r>
              <a:rPr lang="en-US" sz="2400" dirty="0"/>
              <a:t> (CSCs) to enable fair regional comparison.</a:t>
            </a:r>
          </a:p>
          <a:p>
            <a:r>
              <a:rPr lang="en-US" sz="2400" dirty="0"/>
              <a:t>Analytical techniques are applied to identify underrepresented communities and districts with low outreach. The system is developed and deployed using </a:t>
            </a:r>
            <a:r>
              <a:rPr lang="en-US" sz="2400" b="1" dirty="0"/>
              <a:t>IBM Cloud Lite services</a:t>
            </a:r>
            <a:r>
              <a:rPr lang="en-US" sz="2400" dirty="0"/>
              <a:t>, with data processing and visualization supported by IBM Watson Studio.</a:t>
            </a:r>
          </a:p>
          <a:p>
            <a:r>
              <a:rPr lang="en-US" sz="2400" dirty="0"/>
              <a:t>The outcome provides clear insights into Tele-Law service gaps, highlights underserved regions, and supports data-driven decision-making to improve inclusive legal access</a:t>
            </a:r>
            <a:r>
              <a:rPr lang="en-US" sz="1200" dirty="0"/>
              <a:t>.</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normAutofit/>
          </a:bodyPr>
          <a:lstStyle/>
          <a:p>
            <a:r>
              <a:rPr lang="en-IN" sz="3600" dirty="0"/>
              <a:t>The system uses district-wise Tele-Law data from FY 2021–22 to 2024–25. Data processing and analysis are performed using Python-based analytics tools. IBM Cloud Lite services are used for data storage, analysis, and deployment, with IBM Watson Studio supporting visualization and reporting.</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581192" y="1302027"/>
            <a:ext cx="11029615" cy="1834464"/>
          </a:xfrm>
        </p:spPr>
        <p:txBody>
          <a:bodyPr>
            <a:normAutofit fontScale="70000" lnSpcReduction="20000"/>
          </a:bodyPr>
          <a:lstStyle/>
          <a:p>
            <a:pPr marL="305435" indent="-305435"/>
            <a:r>
              <a:rPr lang="en-US" sz="3600" dirty="0"/>
              <a:t>The system applies descriptive and comparative statistical analysis to evaluate demographic and regional patterns. CSC-normalized metrics are used for fair comparison across districts. Analytical results and visual dashboards are deployed using IBM Cloud Lite for accessibility and scalability.</a:t>
            </a:r>
            <a:endParaRPr lang="en-IN" sz="3600" dirty="0"/>
          </a:p>
        </p:txBody>
      </p:sp>
      <p:pic>
        <p:nvPicPr>
          <p:cNvPr id="4" name="Picture 3">
            <a:extLst>
              <a:ext uri="{FF2B5EF4-FFF2-40B4-BE49-F238E27FC236}">
                <a16:creationId xmlns:a16="http://schemas.microsoft.com/office/drawing/2014/main" id="{B5F1AFB2-996C-634E-3233-33F529DB4FB2}"/>
              </a:ext>
            </a:extLst>
          </p:cNvPr>
          <p:cNvPicPr>
            <a:picLocks noChangeAspect="1"/>
          </p:cNvPicPr>
          <p:nvPr/>
        </p:nvPicPr>
        <p:blipFill>
          <a:blip r:embed="rId2"/>
          <a:stretch>
            <a:fillRect/>
          </a:stretch>
        </p:blipFill>
        <p:spPr>
          <a:xfrm>
            <a:off x="108155" y="2929296"/>
            <a:ext cx="5232742" cy="3226548"/>
          </a:xfrm>
          <a:prstGeom prst="rect">
            <a:avLst/>
          </a:prstGeom>
        </p:spPr>
      </p:pic>
      <p:pic>
        <p:nvPicPr>
          <p:cNvPr id="7" name="Picture 6">
            <a:extLst>
              <a:ext uri="{FF2B5EF4-FFF2-40B4-BE49-F238E27FC236}">
                <a16:creationId xmlns:a16="http://schemas.microsoft.com/office/drawing/2014/main" id="{863B7489-8F5E-A83C-6309-9E685F04683E}"/>
              </a:ext>
            </a:extLst>
          </p:cNvPr>
          <p:cNvPicPr>
            <a:picLocks noChangeAspect="1"/>
          </p:cNvPicPr>
          <p:nvPr/>
        </p:nvPicPr>
        <p:blipFill>
          <a:blip r:embed="rId3"/>
          <a:stretch>
            <a:fillRect/>
          </a:stretch>
        </p:blipFill>
        <p:spPr>
          <a:xfrm>
            <a:off x="6672765" y="2929296"/>
            <a:ext cx="5232742" cy="3226548"/>
          </a:xfrm>
          <a:prstGeom prst="rect">
            <a:avLst/>
          </a:prstGeom>
        </p:spPr>
      </p:pic>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a:xfrm>
            <a:off x="581192" y="1302026"/>
            <a:ext cx="11029615" cy="1981948"/>
          </a:xfrm>
        </p:spPr>
        <p:txBody>
          <a:bodyPr>
            <a:normAutofit/>
          </a:bodyPr>
          <a:lstStyle/>
          <a:p>
            <a:pPr marL="0" indent="0">
              <a:buNone/>
            </a:pPr>
            <a:r>
              <a:rPr lang="en-US" sz="2400" dirty="0"/>
              <a:t>The system identifies gender and caste-based utilization gaps and highlights districts with low Tele-Law outreach. CSC-adjusted comparisons provide a clear view of regional disparities. Visual outputs such as charts and heatmaps support effective interpretation of results</a:t>
            </a:r>
            <a:r>
              <a:rPr lang="en-US" sz="4000" dirty="0"/>
              <a:t>.</a:t>
            </a:r>
            <a:endParaRPr lang="en-IN" sz="4000" dirty="0"/>
          </a:p>
        </p:txBody>
      </p:sp>
      <p:pic>
        <p:nvPicPr>
          <p:cNvPr id="4" name="Picture 3">
            <a:extLst>
              <a:ext uri="{FF2B5EF4-FFF2-40B4-BE49-F238E27FC236}">
                <a16:creationId xmlns:a16="http://schemas.microsoft.com/office/drawing/2014/main" id="{87D2366B-83D1-AFAD-F094-5F5F071CA1C3}"/>
              </a:ext>
            </a:extLst>
          </p:cNvPr>
          <p:cNvPicPr>
            <a:picLocks noChangeAspect="1"/>
          </p:cNvPicPr>
          <p:nvPr/>
        </p:nvPicPr>
        <p:blipFill>
          <a:blip r:embed="rId2"/>
          <a:stretch>
            <a:fillRect/>
          </a:stretch>
        </p:blipFill>
        <p:spPr>
          <a:xfrm>
            <a:off x="373626" y="3165987"/>
            <a:ext cx="5201264" cy="3313471"/>
          </a:xfrm>
          <a:prstGeom prst="rect">
            <a:avLst/>
          </a:prstGeom>
        </p:spPr>
      </p:pic>
      <p:pic>
        <p:nvPicPr>
          <p:cNvPr id="7" name="Picture 6">
            <a:extLst>
              <a:ext uri="{FF2B5EF4-FFF2-40B4-BE49-F238E27FC236}">
                <a16:creationId xmlns:a16="http://schemas.microsoft.com/office/drawing/2014/main" id="{1C7F7B2B-7488-6DE5-030E-2A8BC9BF9498}"/>
              </a:ext>
            </a:extLst>
          </p:cNvPr>
          <p:cNvPicPr>
            <a:picLocks noChangeAspect="1"/>
          </p:cNvPicPr>
          <p:nvPr/>
        </p:nvPicPr>
        <p:blipFill>
          <a:blip r:embed="rId3"/>
          <a:stretch>
            <a:fillRect/>
          </a:stretch>
        </p:blipFill>
        <p:spPr>
          <a:xfrm>
            <a:off x="5970157" y="3165987"/>
            <a:ext cx="6221843" cy="3313471"/>
          </a:xfrm>
          <a:prstGeom prst="rect">
            <a:avLst/>
          </a:prstGeom>
        </p:spPr>
      </p:pic>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US" sz="4400" dirty="0"/>
              <a:t>The analysis provides meaningful insights into inclusivity and accessibility of Tele-Law services. It supports evidence-based policymaking and helps optimize legal aid outreach to underserved communities and regions.</a:t>
            </a:r>
            <a:endParaRPr lang="en-IN" sz="44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normAutofit/>
          </a:bodyPr>
          <a:lstStyle/>
          <a:p>
            <a:pPr marL="0" indent="0">
              <a:buNone/>
            </a:pPr>
            <a:r>
              <a:rPr lang="en-US" sz="4400" dirty="0"/>
              <a:t>The system can be enhanced by integrating real-time data, predictive analytics for outreach planning, and GIS-based visualization. Future work may also include analysis of case outcomes and user satisfaction.</a:t>
            </a:r>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References</a:t>
            </a:r>
            <a:endParaRPr lang="en-US" dirty="0"/>
          </a:p>
        </p:txBody>
      </p:sp>
      <p:sp>
        <p:nvSpPr>
          <p:cNvPr id="3" name="Rectangle 1">
            <a:extLst>
              <a:ext uri="{FF2B5EF4-FFF2-40B4-BE49-F238E27FC236}">
                <a16:creationId xmlns:a16="http://schemas.microsoft.com/office/drawing/2014/main" id="{FD3694CF-E3A4-B4F6-FAB7-96F64E942B09}"/>
              </a:ext>
            </a:extLst>
          </p:cNvPr>
          <p:cNvSpPr>
            <a:spLocks noGrp="1" noChangeArrowheads="1"/>
          </p:cNvSpPr>
          <p:nvPr>
            <p:ph idx="1"/>
          </p:nvPr>
        </p:nvSpPr>
        <p:spPr bwMode="auto">
          <a:xfrm>
            <a:off x="457200" y="2612199"/>
            <a:ext cx="113995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District-wise Tele-Law Case Registration Data (FY 2021–22 to 2024–25)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Source: data.gov.in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IBM Cloud &amp; Watson Studio Documentation</a:t>
            </a:r>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23198-9FAC-0AE3-4896-C2640CA2747B}"/>
              </a:ext>
            </a:extLst>
          </p:cNvPr>
          <p:cNvSpPr>
            <a:spLocks noGrp="1"/>
          </p:cNvSpPr>
          <p:nvPr>
            <p:ph type="title"/>
          </p:nvPr>
        </p:nvSpPr>
        <p:spPr/>
        <p:txBody>
          <a:bodyPr/>
          <a:lstStyle/>
          <a:p>
            <a:r>
              <a:rPr lang="en-IN" b="1" dirty="0">
                <a:solidFill>
                  <a:schemeClr val="accent1"/>
                </a:solidFill>
                <a:latin typeface="Arial" panose="020B0604020202020204" pitchFamily="34" charset="0"/>
                <a:cs typeface="Arial" panose="020B0604020202020204" pitchFamily="34" charset="0"/>
              </a:rPr>
              <a:t>GITHUB LINK</a:t>
            </a:r>
          </a:p>
        </p:txBody>
      </p:sp>
      <p:sp>
        <p:nvSpPr>
          <p:cNvPr id="3" name="Content Placeholder 2">
            <a:extLst>
              <a:ext uri="{FF2B5EF4-FFF2-40B4-BE49-F238E27FC236}">
                <a16:creationId xmlns:a16="http://schemas.microsoft.com/office/drawing/2014/main" id="{29CF5DCA-68F5-49E5-ABFA-7982F9FA5CBC}"/>
              </a:ext>
            </a:extLst>
          </p:cNvPr>
          <p:cNvSpPr>
            <a:spLocks noGrp="1"/>
          </p:cNvSpPr>
          <p:nvPr>
            <p:ph idx="1"/>
          </p:nvPr>
        </p:nvSpPr>
        <p:spPr/>
        <p:txBody>
          <a:bodyPr>
            <a:normAutofit/>
          </a:bodyPr>
          <a:lstStyle/>
          <a:p>
            <a:r>
              <a:rPr lang="en-IN" sz="2800" dirty="0"/>
              <a:t>GitHub Link:- </a:t>
            </a:r>
            <a:r>
              <a:rPr lang="en-IN" sz="2400" dirty="0">
                <a:solidFill>
                  <a:schemeClr val="accent2"/>
                </a:solidFill>
              </a:rPr>
              <a:t>https://github.com/parthverma9805/Tele-Law-Case-Registrations</a:t>
            </a:r>
          </a:p>
        </p:txBody>
      </p:sp>
    </p:spTree>
    <p:extLst>
      <p:ext uri="{BB962C8B-B14F-4D97-AF65-F5344CB8AC3E}">
        <p14:creationId xmlns:p14="http://schemas.microsoft.com/office/powerpoint/2010/main" val="714298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B1F76-C074-0D8A-F7AD-6570259FCF57}"/>
              </a:ext>
            </a:extLst>
          </p:cNvPr>
          <p:cNvSpPr>
            <a:spLocks noGrp="1"/>
          </p:cNvSpPr>
          <p:nvPr>
            <p:ph type="title"/>
          </p:nvPr>
        </p:nvSpPr>
        <p:spPr/>
        <p:txBody>
          <a:bodyPr/>
          <a:lstStyle/>
          <a:p>
            <a:r>
              <a:rPr lang="en-IN" b="1" dirty="0">
                <a:solidFill>
                  <a:schemeClr val="accent1"/>
                </a:solidFill>
                <a:latin typeface="Arial" panose="020B0604020202020204" pitchFamily="34" charset="0"/>
                <a:cs typeface="Arial" panose="020B0604020202020204" pitchFamily="34" charset="0"/>
              </a:rPr>
              <a:t>CERTIFICATES</a:t>
            </a:r>
          </a:p>
        </p:txBody>
      </p:sp>
      <p:pic>
        <p:nvPicPr>
          <p:cNvPr id="5" name="Content Placeholder 4">
            <a:extLst>
              <a:ext uri="{FF2B5EF4-FFF2-40B4-BE49-F238E27FC236}">
                <a16:creationId xmlns:a16="http://schemas.microsoft.com/office/drawing/2014/main" id="{3C02B903-A13D-6B5A-F2D3-27CBF380D6DC}"/>
              </a:ext>
            </a:extLst>
          </p:cNvPr>
          <p:cNvPicPr>
            <a:picLocks noGrp="1" noChangeAspect="1"/>
          </p:cNvPicPr>
          <p:nvPr>
            <p:ph idx="1"/>
          </p:nvPr>
        </p:nvPicPr>
        <p:blipFill>
          <a:blip r:embed="rId2"/>
          <a:stretch>
            <a:fillRect/>
          </a:stretch>
        </p:blipFill>
        <p:spPr>
          <a:xfrm>
            <a:off x="726357" y="1341079"/>
            <a:ext cx="4307759" cy="2458936"/>
          </a:xfrm>
        </p:spPr>
      </p:pic>
      <p:pic>
        <p:nvPicPr>
          <p:cNvPr id="7" name="Picture 6">
            <a:extLst>
              <a:ext uri="{FF2B5EF4-FFF2-40B4-BE49-F238E27FC236}">
                <a16:creationId xmlns:a16="http://schemas.microsoft.com/office/drawing/2014/main" id="{9FD3F3A7-1F66-0394-AA50-67628DA0038A}"/>
              </a:ext>
            </a:extLst>
          </p:cNvPr>
          <p:cNvPicPr>
            <a:picLocks noChangeAspect="1"/>
          </p:cNvPicPr>
          <p:nvPr/>
        </p:nvPicPr>
        <p:blipFill>
          <a:blip r:embed="rId3"/>
          <a:stretch>
            <a:fillRect/>
          </a:stretch>
        </p:blipFill>
        <p:spPr>
          <a:xfrm>
            <a:off x="6853084" y="1341079"/>
            <a:ext cx="4395020" cy="2452038"/>
          </a:xfrm>
          <a:prstGeom prst="rect">
            <a:avLst/>
          </a:prstGeom>
        </p:spPr>
      </p:pic>
      <p:pic>
        <p:nvPicPr>
          <p:cNvPr id="9" name="Picture 8">
            <a:extLst>
              <a:ext uri="{FF2B5EF4-FFF2-40B4-BE49-F238E27FC236}">
                <a16:creationId xmlns:a16="http://schemas.microsoft.com/office/drawing/2014/main" id="{FF5A5CEF-4B2A-55B9-F5C9-5A21B3D0CAA0}"/>
              </a:ext>
            </a:extLst>
          </p:cNvPr>
          <p:cNvPicPr>
            <a:picLocks noChangeAspect="1"/>
          </p:cNvPicPr>
          <p:nvPr/>
        </p:nvPicPr>
        <p:blipFill>
          <a:blip r:embed="rId4"/>
          <a:stretch>
            <a:fillRect/>
          </a:stretch>
        </p:blipFill>
        <p:spPr>
          <a:xfrm>
            <a:off x="726357" y="3997541"/>
            <a:ext cx="4307759" cy="2727723"/>
          </a:xfrm>
          <a:prstGeom prst="rect">
            <a:avLst/>
          </a:prstGeom>
        </p:spPr>
      </p:pic>
      <p:pic>
        <p:nvPicPr>
          <p:cNvPr id="11" name="Picture 10">
            <a:extLst>
              <a:ext uri="{FF2B5EF4-FFF2-40B4-BE49-F238E27FC236}">
                <a16:creationId xmlns:a16="http://schemas.microsoft.com/office/drawing/2014/main" id="{34A856FF-D875-E692-FF4B-2A91D7FE3DFF}"/>
              </a:ext>
            </a:extLst>
          </p:cNvPr>
          <p:cNvPicPr>
            <a:picLocks noChangeAspect="1"/>
          </p:cNvPicPr>
          <p:nvPr/>
        </p:nvPicPr>
        <p:blipFill>
          <a:blip r:embed="rId5"/>
          <a:stretch>
            <a:fillRect/>
          </a:stretch>
        </p:blipFill>
        <p:spPr>
          <a:xfrm>
            <a:off x="6853084" y="3997541"/>
            <a:ext cx="4395020" cy="2727723"/>
          </a:xfrm>
          <a:prstGeom prst="rect">
            <a:avLst/>
          </a:prstGeom>
        </p:spPr>
      </p:pic>
    </p:spTree>
    <p:extLst>
      <p:ext uri="{BB962C8B-B14F-4D97-AF65-F5344CB8AC3E}">
        <p14:creationId xmlns:p14="http://schemas.microsoft.com/office/powerpoint/2010/main" val="1440357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18</TotalTime>
  <Words>548</Words>
  <Application>Microsoft Office PowerPoint</Application>
  <PresentationFormat>Widescreen</PresentationFormat>
  <Paragraphs>40</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Franklin Gothic Book</vt:lpstr>
      <vt:lpstr>Franklin Gothic Demi</vt:lpstr>
      <vt:lpstr>Wingdings 2</vt:lpstr>
      <vt:lpstr>DividendVTI</vt:lpstr>
      <vt:lpstr>Project Title</vt:lpstr>
      <vt:lpstr>OUTLINE</vt:lpstr>
      <vt:lpstr>Problem Statement</vt:lpstr>
      <vt:lpstr>Proposed Solution</vt:lpstr>
      <vt:lpstr>System  Approach</vt:lpstr>
      <vt:lpstr>Algorithm &amp; Deployment</vt:lpstr>
      <vt:lpstr>Result</vt:lpstr>
      <vt:lpstr>Conclusion</vt:lpstr>
      <vt:lpstr>PowerPoint Presentation</vt:lpstr>
      <vt:lpstr>References</vt:lpstr>
      <vt:lpstr>GITHUB LINK</vt:lpstr>
      <vt:lpstr>CERTIFICATES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parth verma</cp:lastModifiedBy>
  <cp:revision>34</cp:revision>
  <dcterms:created xsi:type="dcterms:W3CDTF">2021-05-26T16:50:10Z</dcterms:created>
  <dcterms:modified xsi:type="dcterms:W3CDTF">2026-02-07T07:07:48Z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